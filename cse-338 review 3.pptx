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handoutMasterIdLst>
    <p:handoutMasterId r:id="rId22"/>
  </p:handoutMasterIdLst>
  <p:sldIdLst>
    <p:sldId id="275" r:id="rId2"/>
    <p:sldId id="290" r:id="rId3"/>
    <p:sldId id="279" r:id="rId4"/>
    <p:sldId id="281" r:id="rId5"/>
    <p:sldId id="303" r:id="rId6"/>
    <p:sldId id="307" r:id="rId7"/>
    <p:sldId id="310" r:id="rId8"/>
    <p:sldId id="312" r:id="rId9"/>
    <p:sldId id="313" r:id="rId10"/>
    <p:sldId id="314" r:id="rId11"/>
    <p:sldId id="321" r:id="rId12"/>
    <p:sldId id="322" r:id="rId13"/>
    <p:sldId id="320" r:id="rId14"/>
    <p:sldId id="319" r:id="rId15"/>
    <p:sldId id="323" r:id="rId16"/>
    <p:sldId id="327" r:id="rId17"/>
    <p:sldId id="328" r:id="rId18"/>
    <p:sldId id="326" r:id="rId19"/>
    <p:sldId id="325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590" autoAdjust="0"/>
  </p:normalViewPr>
  <p:slideViewPr>
    <p:cSldViewPr>
      <p:cViewPr varScale="1">
        <p:scale>
          <a:sx n="59" d="100"/>
          <a:sy n="59" d="100"/>
        </p:scale>
        <p:origin x="1316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5" d="100"/>
          <a:sy n="55" d="100"/>
        </p:scale>
        <p:origin x="-2904" y="-10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472FC0-3A6E-4FDF-98C7-05D53ADA3185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E15A7B-879F-45B5-9291-0F55AE53DB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3146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F44B48-72A2-4A15-9A9B-0DA2BF7C6B02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238FA3-189B-4AA8-9E46-1FED810FB6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616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238FA3-189B-4AA8-9E46-1FED810FB611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4290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238FA3-189B-4AA8-9E46-1FED810FB611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764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E7C27-16C2-4FD5-8EDE-FBC75B02CAE1}" type="datetime3">
              <a:rPr lang="en-US" smtClean="0"/>
              <a:pPr/>
              <a:t>18 January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781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A6F9D-DD77-42A7-A6AB-57439E778FC8}" type="datetime3">
              <a:rPr lang="en-US" smtClean="0"/>
              <a:pPr/>
              <a:t>18 January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148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A0253-5212-49C0-B220-868D06335A5E}" type="datetime3">
              <a:rPr lang="en-US" smtClean="0"/>
              <a:pPr/>
              <a:t>18 January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091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9E232-9D5D-4D27-AF47-61E4C4587D76}" type="datetime3">
              <a:rPr lang="en-US" smtClean="0"/>
              <a:pPr/>
              <a:t>18 January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900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9B3BB-114E-4111-8052-0BC0558AA05F}" type="datetime3">
              <a:rPr lang="en-US" smtClean="0"/>
              <a:pPr/>
              <a:t>18 January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346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305F7-9DF8-482F-A92F-377DE8B06454}" type="datetime3">
              <a:rPr lang="en-US" smtClean="0"/>
              <a:pPr/>
              <a:t>18 January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019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629EA-6B2E-4077-9690-3164A6869B63}" type="datetime3">
              <a:rPr lang="en-US" smtClean="0"/>
              <a:pPr/>
              <a:t>18 January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883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50F3F-5DBE-4A29-BC4C-5DBB7AA3E72C}" type="datetime3">
              <a:rPr lang="en-US" smtClean="0"/>
              <a:pPr/>
              <a:t>18 January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28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4D7CD-DC6B-447A-B516-2D668A535C98}" type="datetime3">
              <a:rPr lang="en-US" smtClean="0"/>
              <a:pPr/>
              <a:t>18 January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269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7E129-FEC6-4F1C-87DA-3FA2731984DA}" type="datetime3">
              <a:rPr lang="en-US" smtClean="0"/>
              <a:pPr/>
              <a:t>18 January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042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EDB6C-4E1E-4281-A1E0-61DF76DC1030}" type="datetime3">
              <a:rPr lang="en-US" smtClean="0"/>
              <a:pPr/>
              <a:t>18 January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8611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noFill/>
          <a:ln>
            <a:noFill/>
          </a:ln>
          <a:effectLst>
            <a:outerShdw blurRad="50800" dist="50800" dir="5400000" algn="ctr" rotWithShape="0">
              <a:schemeClr val="bg1"/>
            </a:outerShdw>
          </a:effectLst>
        </p:spPr>
        <p:txBody>
          <a:bodyPr/>
          <a:lstStyle>
            <a:lvl1pPr>
              <a:defRPr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022C0B77-B5C0-41D3-97D7-210C8A431946}" type="datetime3">
              <a:rPr lang="en-US" smtClean="0"/>
              <a:pPr/>
              <a:t>18 January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/>
              <a:t>School of Computing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C0EC1BDC-9B67-430D-970A-E36C7517514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8940" y="228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68C00D-D945-4F51-B787-E058BBE42DC9}" type="datetime3">
              <a:rPr lang="en-US" smtClean="0"/>
              <a:pPr/>
              <a:t>18 January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School of Computing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298940" y="177143"/>
            <a:ext cx="8610600" cy="6553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298940" y="1219200"/>
            <a:ext cx="8610600" cy="1588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2315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50" r:id="rId12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ctrTitle"/>
          </p:nvPr>
        </p:nvSpPr>
        <p:spPr>
          <a:xfrm>
            <a:off x="685800" y="1447800"/>
            <a:ext cx="7696200" cy="1417637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br>
              <a:rPr lang="en-IN" sz="1800" dirty="0">
                <a:effectLst/>
                <a:latin typeface="Arimo"/>
                <a:ea typeface="Arimo"/>
                <a:cs typeface="Arimo"/>
              </a:rPr>
            </a:b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Arimo"/>
                <a:cs typeface="Arimo"/>
              </a:rPr>
              <a:t>PORTABLE CAMERA BASED IDENTIFICATION SYSTEM FOR VISUALLY IMPAIRED PEOPLE</a:t>
            </a:r>
            <a:br>
              <a:rPr lang="en-IN" sz="24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</a:br>
            <a:endParaRPr lang="en-US" sz="2400" dirty="0">
              <a:solidFill>
                <a:schemeClr val="accent1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Subtitle 2"/>
          <p:cNvSpPr>
            <a:spLocks noGrp="1"/>
          </p:cNvSpPr>
          <p:nvPr>
            <p:ph type="subTitle" idx="1"/>
          </p:nvPr>
        </p:nvSpPr>
        <p:spPr>
          <a:xfrm>
            <a:off x="914400" y="3124200"/>
            <a:ext cx="7620000" cy="2514600"/>
          </a:xfrm>
        </p:spPr>
        <p:txBody>
          <a:bodyPr>
            <a:normAutofit fontScale="70000" lnSpcReduction="20000"/>
          </a:bodyPr>
          <a:lstStyle/>
          <a:p>
            <a:r>
              <a: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Under the guidance of </a:t>
            </a:r>
          </a:p>
          <a:p>
            <a:r>
              <a:rPr lang="en-US" dirty="0">
                <a:solidFill>
                  <a:schemeClr val="tx1"/>
                </a:solidFill>
              </a:rPr>
              <a:t>Dr. S. Prince Mary, M.E., Ph.D.,</a:t>
            </a:r>
            <a:endParaRPr lang="en-IN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by</a:t>
            </a:r>
          </a:p>
          <a:p>
            <a:r>
              <a: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Bala Deepika J</a:t>
            </a:r>
          </a:p>
          <a:p>
            <a:r>
              <a: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(39110112)</a:t>
            </a:r>
          </a:p>
          <a:p>
            <a:r>
              <a:rPr lang="en-US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Ashveena</a:t>
            </a:r>
            <a:r>
              <a: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A</a:t>
            </a:r>
          </a:p>
          <a:p>
            <a:r>
              <a: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(39110094)</a:t>
            </a:r>
          </a:p>
          <a:p>
            <a:endParaRPr lang="en-US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endParaRPr lang="en-US" sz="28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endParaRPr lang="en-US" sz="28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endParaRPr lang="en-US" sz="28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effectLst>
            <a:outerShdw blurRad="50800" dist="50800" dir="5400000" algn="ctr" rotWithShape="0">
              <a:schemeClr val="bg1"/>
            </a:outerShdw>
          </a:effectLst>
        </p:spPr>
        <p:txBody>
          <a:bodyPr/>
          <a:lstStyle/>
          <a:p>
            <a:fld id="{F9D96BC4-15DC-467A-8A2C-755170F878F5}" type="datetime3">
              <a:rPr lang="en-US" smtClean="0"/>
              <a:pPr/>
              <a:t>18 January 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C1BDC-9B67-430D-970A-E36C75175141}" type="slidenum">
              <a:rPr lang="en-US" smtClean="0"/>
              <a:pPr/>
              <a:t>1</a:t>
            </a:fld>
            <a:endParaRPr lang="en-US"/>
          </a:p>
        </p:txBody>
      </p:sp>
      <p:pic>
        <p:nvPicPr>
          <p:cNvPr id="2" name="Picture 1" descr="HEADER New copy">
            <a:extLst>
              <a:ext uri="{FF2B5EF4-FFF2-40B4-BE49-F238E27FC236}">
                <a16:creationId xmlns:a16="http://schemas.microsoft.com/office/drawing/2014/main" id="{29E2CEAE-1573-4F9B-3915-261CA7482D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0150" y="228600"/>
            <a:ext cx="6591300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2">
                    <a:lumMod val="50000"/>
                  </a:schemeClr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000" dirty="0"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3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cutting-edge method for designing a set of assistive technology for the blind to satisfy their daily requirements.</a:t>
            </a:r>
            <a:endParaRPr lang="en-IN" sz="3000" dirty="0">
              <a:solidFill>
                <a:schemeClr val="tx2">
                  <a:lumMod val="50000"/>
                </a:schemeClr>
              </a:solidFill>
            </a:endParaRPr>
          </a:p>
          <a:p>
            <a:pPr algn="just"/>
            <a:r>
              <a:rPr lang="en-IN" sz="3000" dirty="0">
                <a:solidFill>
                  <a:schemeClr val="tx2">
                    <a:lumMod val="50000"/>
                  </a:schemeClr>
                </a:solidFill>
              </a:rPr>
              <a:t>To aim at creating a system that helps blind people to get an alarm sensor along with the details of the object found and the distance.</a:t>
            </a:r>
          </a:p>
          <a:p>
            <a:pPr algn="just"/>
            <a:r>
              <a:rPr lang="en-IN" sz="3000" dirty="0">
                <a:solidFill>
                  <a:schemeClr val="tx2">
                    <a:lumMod val="50000"/>
                  </a:schemeClr>
                </a:solidFill>
              </a:rPr>
              <a:t>The SSD algorithm is applied for doing the image processing.</a:t>
            </a:r>
          </a:p>
          <a:p>
            <a:pPr marL="0" indent="0">
              <a:buNone/>
            </a:pPr>
            <a:endParaRPr lang="en-IN" sz="3000" dirty="0">
              <a:solidFill>
                <a:schemeClr val="tx2">
                  <a:lumMod val="50000"/>
                </a:schemeClr>
              </a:solidFill>
            </a:endParaRPr>
          </a:p>
          <a:p>
            <a:endParaRPr lang="en-IN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A6F9D-DD77-42A7-A6AB-57439E778FC8}" type="datetime3">
              <a:rPr lang="en-US" smtClean="0"/>
              <a:pPr/>
              <a:t>18 January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767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95300" y="381000"/>
            <a:ext cx="8229600" cy="655638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>
                <a:latin typeface="Arial" pitchFamily="34" charset="0"/>
                <a:cs typeface="Arial" pitchFamily="34" charset="0"/>
              </a:rPr>
              <a:t>                  </a:t>
            </a:r>
            <a:r>
              <a:rPr lang="en-US" sz="4900" dirty="0">
                <a:latin typeface="Arial" pitchFamily="34" charset="0"/>
                <a:cs typeface="Arial" pitchFamily="34" charset="0"/>
              </a:rPr>
              <a:t>Objectives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457200" y="1442993"/>
            <a:ext cx="8001000" cy="4527550"/>
          </a:xfrm>
        </p:spPr>
        <p:txBody>
          <a:bodyPr>
            <a:normAutofit fontScale="85000" lnSpcReduction="20000"/>
          </a:bodyPr>
          <a:lstStyle/>
          <a:p>
            <a:pPr algn="just">
              <a:lnSpc>
                <a:spcPct val="80000"/>
              </a:lnSpc>
            </a:pPr>
            <a:endParaRPr lang="en-US" sz="2800" dirty="0"/>
          </a:p>
          <a:p>
            <a:pPr algn="just">
              <a:lnSpc>
                <a:spcPct val="160000"/>
              </a:lnSpc>
            </a:pPr>
            <a:r>
              <a:rPr lang="en-US" sz="3500" dirty="0"/>
              <a:t>To work as an aid for visually impaired people.</a:t>
            </a:r>
          </a:p>
          <a:p>
            <a:pPr algn="just">
              <a:lnSpc>
                <a:spcPct val="160000"/>
              </a:lnSpc>
            </a:pPr>
            <a:r>
              <a:rPr lang="en-US" sz="3500" dirty="0"/>
              <a:t>To visualize the visual in front of them at their convenience. </a:t>
            </a:r>
          </a:p>
          <a:p>
            <a:pPr algn="just">
              <a:lnSpc>
                <a:spcPct val="160000"/>
              </a:lnSpc>
            </a:pPr>
            <a:r>
              <a:rPr lang="en-US" sz="3500" dirty="0"/>
              <a:t>To prevent any mishap and ensure safety in all possible ways.</a:t>
            </a:r>
          </a:p>
          <a:p>
            <a:pPr algn="just">
              <a:lnSpc>
                <a:spcPct val="160000"/>
              </a:lnSpc>
            </a:pPr>
            <a:r>
              <a:rPr lang="en-US" sz="3500" dirty="0"/>
              <a:t>To alert the user beforehand.</a:t>
            </a:r>
          </a:p>
          <a:p>
            <a:pPr algn="just"/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algn="just"/>
            <a:endParaRPr lang="en-US" sz="2800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5A3F0-0DA4-40CB-AEA1-7A2A56B62DF1}" type="datetime3">
              <a:rPr lang="en-US" smtClean="0"/>
              <a:pPr/>
              <a:t>18 January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9722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Architecture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1A835-9C87-4039-8AE0-692D1FD839A3}" type="datetime3">
              <a:rPr lang="en-US" smtClean="0"/>
              <a:pPr/>
              <a:t>18 January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25" name="Rectangle 18">
            <a:extLst>
              <a:ext uri="{FF2B5EF4-FFF2-40B4-BE49-F238E27FC236}">
                <a16:creationId xmlns:a16="http://schemas.microsoft.com/office/drawing/2014/main" id="{4654EE42-EB64-963D-070F-53F3452618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26" name="Rectangle 27">
            <a:extLst>
              <a:ext uri="{FF2B5EF4-FFF2-40B4-BE49-F238E27FC236}">
                <a16:creationId xmlns:a16="http://schemas.microsoft.com/office/drawing/2014/main" id="{4026C144-559E-A72A-E060-C2A3C45ADC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7DECFA9-DAD3-ECF1-75A1-CC2942666F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9537" y="104025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48" name="Rectangle 56">
            <a:extLst>
              <a:ext uri="{FF2B5EF4-FFF2-40B4-BE49-F238E27FC236}">
                <a16:creationId xmlns:a16="http://schemas.microsoft.com/office/drawing/2014/main" id="{A6986DEC-76B9-CBCC-41A9-E62417B086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9537" y="149745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97EEC03-3165-8F2E-CAD8-57FD335FA06E}"/>
              </a:ext>
            </a:extLst>
          </p:cNvPr>
          <p:cNvSpPr/>
          <p:nvPr/>
        </p:nvSpPr>
        <p:spPr>
          <a:xfrm>
            <a:off x="752335" y="1645682"/>
            <a:ext cx="1918946" cy="95367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B13BDF5-EBFB-3A77-A0AE-0523F3A50E45}"/>
              </a:ext>
            </a:extLst>
          </p:cNvPr>
          <p:cNvSpPr/>
          <p:nvPr/>
        </p:nvSpPr>
        <p:spPr>
          <a:xfrm>
            <a:off x="3540048" y="1586928"/>
            <a:ext cx="1387016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7E11631-ECF0-27BA-911D-5AE77FF60BD6}"/>
              </a:ext>
            </a:extLst>
          </p:cNvPr>
          <p:cNvSpPr/>
          <p:nvPr/>
        </p:nvSpPr>
        <p:spPr>
          <a:xfrm>
            <a:off x="743901" y="3537819"/>
            <a:ext cx="1846847" cy="8341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BECB043-7347-CFDF-C913-CA67E2EC13D2}"/>
              </a:ext>
            </a:extLst>
          </p:cNvPr>
          <p:cNvSpPr txBox="1"/>
          <p:nvPr/>
        </p:nvSpPr>
        <p:spPr>
          <a:xfrm flipH="1">
            <a:off x="1008378" y="3657600"/>
            <a:ext cx="14300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SPEAKER/MICROPHONE</a:t>
            </a:r>
            <a:endParaRPr lang="en-IN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3792645-4E07-56ED-AF2C-D64B5082C38D}"/>
              </a:ext>
            </a:extLst>
          </p:cNvPr>
          <p:cNvSpPr/>
          <p:nvPr/>
        </p:nvSpPr>
        <p:spPr>
          <a:xfrm>
            <a:off x="3465691" y="3474223"/>
            <a:ext cx="1577974" cy="9143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66B455E-EDE9-2702-D645-6688934E9FB0}"/>
              </a:ext>
            </a:extLst>
          </p:cNvPr>
          <p:cNvSpPr txBox="1"/>
          <p:nvPr/>
        </p:nvSpPr>
        <p:spPr>
          <a:xfrm>
            <a:off x="3548314" y="3744326"/>
            <a:ext cx="1492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RASPBERRY PI</a:t>
            </a:r>
            <a:endParaRPr lang="en-IN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D123195-6D6C-9596-FA9D-9601A0D1EBC6}"/>
              </a:ext>
            </a:extLst>
          </p:cNvPr>
          <p:cNvSpPr/>
          <p:nvPr/>
        </p:nvSpPr>
        <p:spPr>
          <a:xfrm>
            <a:off x="6198935" y="1555938"/>
            <a:ext cx="1960563" cy="7852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D7689EE-8526-BF9C-9472-49735BC612B6}"/>
              </a:ext>
            </a:extLst>
          </p:cNvPr>
          <p:cNvSpPr/>
          <p:nvPr/>
        </p:nvSpPr>
        <p:spPr>
          <a:xfrm>
            <a:off x="6402512" y="5142710"/>
            <a:ext cx="1859052" cy="9454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EB817F7-EF79-67C9-0702-72573FF62020}"/>
              </a:ext>
            </a:extLst>
          </p:cNvPr>
          <p:cNvSpPr txBox="1"/>
          <p:nvPr/>
        </p:nvSpPr>
        <p:spPr>
          <a:xfrm flipH="1">
            <a:off x="6608138" y="5164820"/>
            <a:ext cx="1447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IMAGE PROCESSOR/SSD</a:t>
            </a:r>
            <a:endParaRPr lang="en-IN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8A429489-B4DA-611F-DB95-1F7B1F233EC2}"/>
              </a:ext>
            </a:extLst>
          </p:cNvPr>
          <p:cNvSpPr/>
          <p:nvPr/>
        </p:nvSpPr>
        <p:spPr>
          <a:xfrm>
            <a:off x="2252369" y="5407027"/>
            <a:ext cx="1739900" cy="6684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25" name="TextBox 1024">
            <a:extLst>
              <a:ext uri="{FF2B5EF4-FFF2-40B4-BE49-F238E27FC236}">
                <a16:creationId xmlns:a16="http://schemas.microsoft.com/office/drawing/2014/main" id="{99145F1E-8CDC-9378-E81B-B839F5473CFF}"/>
              </a:ext>
            </a:extLst>
          </p:cNvPr>
          <p:cNvSpPr txBox="1"/>
          <p:nvPr/>
        </p:nvSpPr>
        <p:spPr>
          <a:xfrm flipH="1">
            <a:off x="2410376" y="5563895"/>
            <a:ext cx="2436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AUDIONOTE</a:t>
            </a:r>
            <a:endParaRPr lang="en-IN" dirty="0"/>
          </a:p>
        </p:txBody>
      </p:sp>
      <p:sp>
        <p:nvSpPr>
          <p:cNvPr id="1027" name="Rectangle 1026">
            <a:extLst>
              <a:ext uri="{FF2B5EF4-FFF2-40B4-BE49-F238E27FC236}">
                <a16:creationId xmlns:a16="http://schemas.microsoft.com/office/drawing/2014/main" id="{BD911910-402E-3027-C8D7-863D501B31F7}"/>
              </a:ext>
            </a:extLst>
          </p:cNvPr>
          <p:cNvSpPr/>
          <p:nvPr/>
        </p:nvSpPr>
        <p:spPr>
          <a:xfrm>
            <a:off x="468355" y="5360542"/>
            <a:ext cx="1577974" cy="7374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28" name="TextBox 1027">
            <a:extLst>
              <a:ext uri="{FF2B5EF4-FFF2-40B4-BE49-F238E27FC236}">
                <a16:creationId xmlns:a16="http://schemas.microsoft.com/office/drawing/2014/main" id="{2EABE1D9-246A-8457-2BB9-778EBBBD782E}"/>
              </a:ext>
            </a:extLst>
          </p:cNvPr>
          <p:cNvSpPr txBox="1"/>
          <p:nvPr/>
        </p:nvSpPr>
        <p:spPr>
          <a:xfrm>
            <a:off x="882710" y="5599224"/>
            <a:ext cx="1326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BUZZER </a:t>
            </a:r>
            <a:endParaRPr lang="en-IN" dirty="0"/>
          </a:p>
        </p:txBody>
      </p:sp>
      <p:sp>
        <p:nvSpPr>
          <p:cNvPr id="1031" name="TextBox 1030">
            <a:extLst>
              <a:ext uri="{FF2B5EF4-FFF2-40B4-BE49-F238E27FC236}">
                <a16:creationId xmlns:a16="http://schemas.microsoft.com/office/drawing/2014/main" id="{B53D300B-D9CF-548F-5AFF-7F6EBD53BF96}"/>
              </a:ext>
            </a:extLst>
          </p:cNvPr>
          <p:cNvSpPr txBox="1"/>
          <p:nvPr/>
        </p:nvSpPr>
        <p:spPr>
          <a:xfrm flipH="1">
            <a:off x="3733048" y="1840464"/>
            <a:ext cx="1361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CAMERA</a:t>
            </a:r>
            <a:endParaRPr lang="en-IN" dirty="0"/>
          </a:p>
        </p:txBody>
      </p:sp>
      <p:sp>
        <p:nvSpPr>
          <p:cNvPr id="1032" name="TextBox 1031">
            <a:extLst>
              <a:ext uri="{FF2B5EF4-FFF2-40B4-BE49-F238E27FC236}">
                <a16:creationId xmlns:a16="http://schemas.microsoft.com/office/drawing/2014/main" id="{33EFF0E9-7D3D-3AD4-9932-37EDE6E4F43E}"/>
              </a:ext>
            </a:extLst>
          </p:cNvPr>
          <p:cNvSpPr txBox="1"/>
          <p:nvPr/>
        </p:nvSpPr>
        <p:spPr>
          <a:xfrm>
            <a:off x="984502" y="1828797"/>
            <a:ext cx="15488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MOBILE/DEVICE</a:t>
            </a:r>
            <a:endParaRPr lang="en-IN" dirty="0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2E8D25B5-607D-77B0-6C9E-1DC7B41580EB}"/>
              </a:ext>
            </a:extLst>
          </p:cNvPr>
          <p:cNvSpPr/>
          <p:nvPr/>
        </p:nvSpPr>
        <p:spPr>
          <a:xfrm>
            <a:off x="5841907" y="3115669"/>
            <a:ext cx="2771010" cy="17601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ysClr val="windowText" lastClr="000000"/>
              </a:solidFill>
            </a:endParaRPr>
          </a:p>
        </p:txBody>
      </p:sp>
      <p:sp>
        <p:nvSpPr>
          <p:cNvPr id="1040" name="TextBox 1039">
            <a:extLst>
              <a:ext uri="{FF2B5EF4-FFF2-40B4-BE49-F238E27FC236}">
                <a16:creationId xmlns:a16="http://schemas.microsoft.com/office/drawing/2014/main" id="{3BDA28C5-09E3-F61E-83EE-E61F2A1BCACE}"/>
              </a:ext>
            </a:extLst>
          </p:cNvPr>
          <p:cNvSpPr txBox="1"/>
          <p:nvPr/>
        </p:nvSpPr>
        <p:spPr>
          <a:xfrm>
            <a:off x="6036985" y="3082092"/>
            <a:ext cx="26533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ULTRASONIC SENSOR</a:t>
            </a:r>
          </a:p>
          <a:p>
            <a:endParaRPr lang="en-US" dirty="0"/>
          </a:p>
        </p:txBody>
      </p:sp>
      <p:cxnSp>
        <p:nvCxnSpPr>
          <p:cNvPr id="1042" name="Straight Arrow Connector 1041">
            <a:extLst>
              <a:ext uri="{FF2B5EF4-FFF2-40B4-BE49-F238E27FC236}">
                <a16:creationId xmlns:a16="http://schemas.microsoft.com/office/drawing/2014/main" id="{5F270491-053E-916E-7216-A2A2AACC367D}"/>
              </a:ext>
            </a:extLst>
          </p:cNvPr>
          <p:cNvCxnSpPr/>
          <p:nvPr/>
        </p:nvCxnSpPr>
        <p:spPr>
          <a:xfrm>
            <a:off x="-1295400" y="0"/>
            <a:ext cx="21404" cy="308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7" name="Straight Arrow Connector 1046">
            <a:extLst>
              <a:ext uri="{FF2B5EF4-FFF2-40B4-BE49-F238E27FC236}">
                <a16:creationId xmlns:a16="http://schemas.microsoft.com/office/drawing/2014/main" id="{D380C63E-8056-0BA2-14C2-5385D2EF3257}"/>
              </a:ext>
            </a:extLst>
          </p:cNvPr>
          <p:cNvCxnSpPr>
            <a:cxnSpLocks/>
          </p:cNvCxnSpPr>
          <p:nvPr/>
        </p:nvCxnSpPr>
        <p:spPr>
          <a:xfrm flipH="1">
            <a:off x="5032312" y="2209800"/>
            <a:ext cx="1142644" cy="12385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45763B53-ED16-6452-D765-E77C26987C5F}"/>
              </a:ext>
            </a:extLst>
          </p:cNvPr>
          <p:cNvSpPr/>
          <p:nvPr/>
        </p:nvSpPr>
        <p:spPr>
          <a:xfrm>
            <a:off x="6340206" y="1774481"/>
            <a:ext cx="163006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POWER SUPPLY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6185ED4-1F54-B484-578A-00699B782986}"/>
              </a:ext>
            </a:extLst>
          </p:cNvPr>
          <p:cNvSpPr/>
          <p:nvPr/>
        </p:nvSpPr>
        <p:spPr>
          <a:xfrm>
            <a:off x="5984196" y="3484039"/>
            <a:ext cx="2511037" cy="127785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A1EFF64-86D6-CCB1-045D-4BAF7D97A33E}"/>
              </a:ext>
            </a:extLst>
          </p:cNvPr>
          <p:cNvSpPr/>
          <p:nvPr/>
        </p:nvSpPr>
        <p:spPr>
          <a:xfrm>
            <a:off x="6036986" y="3657600"/>
            <a:ext cx="1075364" cy="3381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39FCF93-973B-BD4D-9E2B-DC6EA6D96223}"/>
              </a:ext>
            </a:extLst>
          </p:cNvPr>
          <p:cNvSpPr/>
          <p:nvPr/>
        </p:nvSpPr>
        <p:spPr>
          <a:xfrm>
            <a:off x="6036985" y="4279289"/>
            <a:ext cx="1239525" cy="37861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96E7EBE-A4E6-2251-EF97-87EC8CED7DB8}"/>
              </a:ext>
            </a:extLst>
          </p:cNvPr>
          <p:cNvSpPr/>
          <p:nvPr/>
        </p:nvSpPr>
        <p:spPr>
          <a:xfrm>
            <a:off x="7363648" y="3723378"/>
            <a:ext cx="1076532" cy="71234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860AD2F-3A76-6D85-CF16-FFA29E446239}"/>
              </a:ext>
            </a:extLst>
          </p:cNvPr>
          <p:cNvSpPr/>
          <p:nvPr/>
        </p:nvSpPr>
        <p:spPr>
          <a:xfrm>
            <a:off x="5943442" y="4288552"/>
            <a:ext cx="1426775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TRANSMITTER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E7A0310-0DB8-E0AF-E22C-FF2389A1590E}"/>
              </a:ext>
            </a:extLst>
          </p:cNvPr>
          <p:cNvSpPr/>
          <p:nvPr/>
        </p:nvSpPr>
        <p:spPr>
          <a:xfrm>
            <a:off x="6094495" y="3623012"/>
            <a:ext cx="986937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RECEIVER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78E8C74-BDE7-A4E7-FBA6-87B06F924466}"/>
              </a:ext>
            </a:extLst>
          </p:cNvPr>
          <p:cNvSpPr/>
          <p:nvPr/>
        </p:nvSpPr>
        <p:spPr>
          <a:xfrm>
            <a:off x="7317677" y="3757707"/>
            <a:ext cx="118939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CRYSTAL</a:t>
            </a:r>
          </a:p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OSCILLATOR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FB654EE-EF7C-1275-9ABD-3572C2AF1026}"/>
              </a:ext>
            </a:extLst>
          </p:cNvPr>
          <p:cNvCxnSpPr>
            <a:stCxn id="51" idx="2"/>
          </p:cNvCxnSpPr>
          <p:nvPr/>
        </p:nvCxnSpPr>
        <p:spPr>
          <a:xfrm>
            <a:off x="4233556" y="2501328"/>
            <a:ext cx="0" cy="903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8AB5AE6-EA96-A955-8013-C82835C1EA2B}"/>
              </a:ext>
            </a:extLst>
          </p:cNvPr>
          <p:cNvCxnSpPr>
            <a:stCxn id="1037" idx="1"/>
          </p:cNvCxnSpPr>
          <p:nvPr/>
        </p:nvCxnSpPr>
        <p:spPr>
          <a:xfrm flipH="1" flipV="1">
            <a:off x="5094432" y="3995767"/>
            <a:ext cx="74747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4497655-E1CA-61EB-3F2D-0853C2217A38}"/>
              </a:ext>
            </a:extLst>
          </p:cNvPr>
          <p:cNvCxnSpPr/>
          <p:nvPr/>
        </p:nvCxnSpPr>
        <p:spPr>
          <a:xfrm flipH="1">
            <a:off x="2671281" y="3980765"/>
            <a:ext cx="68151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EC76B8D0-D1AF-B1FF-7D0A-7DB5D0FFF5DC}"/>
              </a:ext>
            </a:extLst>
          </p:cNvPr>
          <p:cNvCxnSpPr/>
          <p:nvPr/>
        </p:nvCxnSpPr>
        <p:spPr>
          <a:xfrm flipH="1">
            <a:off x="1066800" y="4468595"/>
            <a:ext cx="600524" cy="8919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EF918C7D-4804-9D8E-8918-BFD6C5E66BD0}"/>
              </a:ext>
            </a:extLst>
          </p:cNvPr>
          <p:cNvCxnSpPr/>
          <p:nvPr/>
        </p:nvCxnSpPr>
        <p:spPr>
          <a:xfrm>
            <a:off x="2046329" y="4457829"/>
            <a:ext cx="942894" cy="9027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726A013E-9FFC-E42D-63D4-5C314D23DC3B}"/>
              </a:ext>
            </a:extLst>
          </p:cNvPr>
          <p:cNvCxnSpPr>
            <a:stCxn id="50" idx="3"/>
          </p:cNvCxnSpPr>
          <p:nvPr/>
        </p:nvCxnSpPr>
        <p:spPr>
          <a:xfrm>
            <a:off x="2671281" y="2122522"/>
            <a:ext cx="794410" cy="212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6" name="Straight Arrow Connector 1025">
            <a:extLst>
              <a:ext uri="{FF2B5EF4-FFF2-40B4-BE49-F238E27FC236}">
                <a16:creationId xmlns:a16="http://schemas.microsoft.com/office/drawing/2014/main" id="{774C5B2E-7F6D-F028-73E3-D4611BBEE541}"/>
              </a:ext>
            </a:extLst>
          </p:cNvPr>
          <p:cNvCxnSpPr/>
          <p:nvPr/>
        </p:nvCxnSpPr>
        <p:spPr>
          <a:xfrm>
            <a:off x="4724400" y="4435719"/>
            <a:ext cx="1474535" cy="8220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8552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1000" y="381000"/>
            <a:ext cx="8229600" cy="609600"/>
          </a:xfrm>
        </p:spPr>
        <p:txBody>
          <a:bodyPr>
            <a:normAutofit fontScale="90000"/>
          </a:bodyPr>
          <a:lstStyle/>
          <a:p>
            <a:pPr algn="just"/>
            <a:r>
              <a:rPr lang="en-US" dirty="0">
                <a:latin typeface="Arial" pitchFamily="34" charset="0"/>
                <a:cs typeface="Arial" pitchFamily="34" charset="0"/>
              </a:rPr>
              <a:t>           Experimental Setup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1295400" y="2971800"/>
            <a:ext cx="5410200" cy="761999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80000"/>
              </a:lnSpc>
              <a:buNone/>
            </a:pPr>
            <a:r>
              <a:rPr lang="en-US" sz="2800" dirty="0"/>
              <a:t>            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1A835-9C87-4039-8AE0-692D1FD839A3}" type="datetime3">
              <a:rPr lang="en-US" smtClean="0"/>
              <a:pPr/>
              <a:t>18 January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2A5EFC-D951-0156-70CA-81B1F7BED627}"/>
              </a:ext>
            </a:extLst>
          </p:cNvPr>
          <p:cNvSpPr txBox="1"/>
          <p:nvPr/>
        </p:nvSpPr>
        <p:spPr>
          <a:xfrm>
            <a:off x="723900" y="1423872"/>
            <a:ext cx="7543800" cy="5021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effectLst/>
                <a:ea typeface="Arimo"/>
                <a:cs typeface="Arial" panose="020B0604020202020204" pitchFamily="34" charset="0"/>
              </a:rPr>
              <a:t>This model works by Capturing stuffs on live camera and updating it to the person using audio text time to time.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effectLst/>
                <a:ea typeface="Arimo"/>
                <a:cs typeface="Arial" panose="020B0604020202020204" pitchFamily="34" charset="0"/>
              </a:rPr>
              <a:t>This facility combined with the available devices used by them such as the walking cane, or as a head wearable device or a watch     could actually add more usage to the discussed subject</a:t>
            </a:r>
            <a:r>
              <a:rPr lang="en-US" sz="2400" dirty="0">
                <a:solidFill>
                  <a:srgbClr val="333333"/>
                </a:solidFill>
                <a:effectLst/>
                <a:ea typeface="Arimo"/>
                <a:cs typeface="Arial" panose="020B0604020202020204" pitchFamily="34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ea typeface="Arimo"/>
                <a:cs typeface="Times New Roman" panose="02020603050405020304" pitchFamily="18" charset="0"/>
              </a:rPr>
              <a:t> The text navigator device and identification systems are integrated into the single chip which is represented as Raspberry pi ARM11.</a:t>
            </a:r>
            <a:endParaRPr lang="en-US" sz="2400" dirty="0">
              <a:solidFill>
                <a:srgbClr val="333333"/>
              </a:solidFill>
              <a:ea typeface="Arimo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8089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F0656-7FA5-383B-BE67-FC93F2EEA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940" y="228600"/>
            <a:ext cx="8229600" cy="990600"/>
          </a:xfrm>
        </p:spPr>
        <p:txBody>
          <a:bodyPr>
            <a:no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Experimental Setup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6FFB7-961E-2486-C8F3-0D0AB0DBA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3200" dirty="0">
              <a:ea typeface="Arimo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ea typeface="Arimo"/>
                <a:cs typeface="Times New Roman" panose="02020603050405020304" pitchFamily="18" charset="0"/>
              </a:rPr>
              <a:t>COCO dataset of 80 classes is used for this purpose.</a:t>
            </a:r>
          </a:p>
          <a:p>
            <a:pPr algn="just"/>
            <a:r>
              <a:rPr lang="en-US" sz="3200" dirty="0">
                <a:ea typeface="Arimo"/>
                <a:cs typeface="Times New Roman" panose="02020603050405020304" pitchFamily="18" charset="0"/>
              </a:rPr>
              <a:t>The Single Shot Algorithm is used for processing the image captured.</a:t>
            </a:r>
            <a:endParaRPr lang="en-US" dirty="0">
              <a:effectLst/>
              <a:ea typeface="Arimo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effectLst/>
                <a:ea typeface="Arimo"/>
                <a:cs typeface="Times New Roman" panose="02020603050405020304" pitchFamily="18" charset="0"/>
              </a:rPr>
              <a:t>The text navigator system is used to convey that text file information using the speaker. 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520C0C-9A92-E2CA-5BCD-2AD959A27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A6F9D-DD77-42A7-A6AB-57439E778FC8}" type="datetime3">
              <a:rPr lang="en-US" smtClean="0"/>
              <a:pPr/>
              <a:t>18 January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5C5684-9282-533B-5AB3-CCB61A0A5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742268-525A-A23A-DB23-77102264A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9972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F0656-7FA5-383B-BE67-FC93F2EEA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940" y="228600"/>
            <a:ext cx="8229600" cy="990600"/>
          </a:xfrm>
        </p:spPr>
        <p:txBody>
          <a:bodyPr>
            <a:noAutofit/>
          </a:bodyPr>
          <a:lstStyle/>
          <a:p>
            <a:r>
              <a:rPr lang="en-US" dirty="0"/>
              <a:t>Modules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6FFB7-961E-2486-C8F3-0D0AB0DBA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200" b="1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 DETECTION USING ULTRASONIC SENSOR:</a:t>
            </a:r>
            <a:endParaRPr lang="en-IN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28650" indent="-285750" algn="just">
              <a:lnSpc>
                <a:spcPct val="150000"/>
              </a:lnSpc>
              <a:spcAft>
                <a:spcPts val="800"/>
              </a:spcAft>
            </a:pPr>
            <a:r>
              <a:rPr lang="en-US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Utilizing an ultrasonic sensor, an object's presence is found. </a:t>
            </a:r>
          </a:p>
          <a:p>
            <a:pPr marL="628650" indent="-285750" algn="just">
              <a:lnSpc>
                <a:spcPct val="150000"/>
              </a:lnSpc>
              <a:spcAft>
                <a:spcPts val="800"/>
              </a:spcAft>
            </a:pPr>
            <a:r>
              <a:rPr lang="en-US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is one that reflects on touching any surface. </a:t>
            </a:r>
          </a:p>
          <a:p>
            <a:pPr marL="628650" indent="-285750" algn="just">
              <a:lnSpc>
                <a:spcPct val="150000"/>
              </a:lnSpc>
              <a:spcAft>
                <a:spcPts val="800"/>
              </a:spcAft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 ultrasonic sensor transmits and receives trigger and echo for a certain amount of time using its transmitter and receiver modules. </a:t>
            </a:r>
          </a:p>
          <a:p>
            <a:pPr marL="628650" indent="-285750" algn="just">
              <a:lnSpc>
                <a:spcPct val="150000"/>
              </a:lnSpc>
              <a:spcAft>
                <a:spcPts val="800"/>
              </a:spcAft>
            </a:pPr>
            <a:r>
              <a:rPr lang="en-US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procedure begins as soon as the power supply is turned on.</a:t>
            </a:r>
          </a:p>
          <a:p>
            <a:pPr algn="just"/>
            <a:endParaRPr lang="en-US" sz="2200" dirty="0">
              <a:ea typeface="Arimo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520C0C-9A92-E2CA-5BCD-2AD959A27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A6F9D-DD77-42A7-A6AB-57439E778FC8}" type="datetime3">
              <a:rPr lang="en-US" smtClean="0"/>
              <a:pPr/>
              <a:t>18 January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5C5684-9282-533B-5AB3-CCB61A0A5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742268-525A-A23A-DB23-77102264A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8875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F0656-7FA5-383B-BE67-FC93F2EEA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940" y="228600"/>
            <a:ext cx="8229600" cy="990600"/>
          </a:xfrm>
        </p:spPr>
        <p:txBody>
          <a:bodyPr>
            <a:noAutofit/>
          </a:bodyPr>
          <a:lstStyle/>
          <a:p>
            <a:r>
              <a:rPr lang="en-US" dirty="0"/>
              <a:t>Modules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6FFB7-961E-2486-C8F3-0D0AB0DBA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200" b="1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 CAPTURISATION USING THE CAMERA:</a:t>
            </a:r>
            <a:endParaRPr lang="en-IN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28650" indent="-285750" algn="just">
              <a:lnSpc>
                <a:spcPct val="150000"/>
              </a:lnSpc>
              <a:spcAft>
                <a:spcPts val="800"/>
              </a:spcAft>
            </a:pPr>
            <a:r>
              <a:rPr lang="en-US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placement of a camera allows for the detection of things in the path on the camera's display.</a:t>
            </a:r>
          </a:p>
          <a:p>
            <a:pPr marL="628650" indent="-285750" algn="just">
              <a:lnSpc>
                <a:spcPct val="150000"/>
              </a:lnSpc>
              <a:spcAft>
                <a:spcPts val="800"/>
              </a:spcAft>
            </a:pPr>
            <a:r>
              <a:rPr lang="en-US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When an object is identified, it starts functioning by giving input to the raspberry pi port in addition to the input of the ultrasonic sensor's detection.</a:t>
            </a:r>
          </a:p>
          <a:p>
            <a:pPr marL="628650" indent="-285750" algn="just">
              <a:lnSpc>
                <a:spcPct val="150000"/>
              </a:lnSpc>
              <a:spcAft>
                <a:spcPts val="800"/>
              </a:spcAft>
            </a:pPr>
            <a:r>
              <a:rPr lang="en-US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faster detection rate may be achieved with sophisticated camera solutions.</a:t>
            </a:r>
            <a:endParaRPr lang="en-IN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3200" dirty="0">
              <a:ea typeface="Arimo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520C0C-9A92-E2CA-5BCD-2AD959A27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A6F9D-DD77-42A7-A6AB-57439E778FC8}" type="datetime3">
              <a:rPr lang="en-US" smtClean="0"/>
              <a:pPr/>
              <a:t>18 January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5C5684-9282-533B-5AB3-CCB61A0A5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742268-525A-A23A-DB23-77102264A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8512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F0656-7FA5-383B-BE67-FC93F2EEA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940" y="228600"/>
            <a:ext cx="8229600" cy="990600"/>
          </a:xfrm>
        </p:spPr>
        <p:txBody>
          <a:bodyPr>
            <a:noAutofit/>
          </a:bodyPr>
          <a:lstStyle/>
          <a:p>
            <a:r>
              <a:rPr lang="en-US" dirty="0"/>
              <a:t>Modules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6FFB7-961E-2486-C8F3-0D0AB0DBA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3200" dirty="0">
              <a:ea typeface="Arimo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520C0C-9A92-E2CA-5BCD-2AD959A27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A6F9D-DD77-42A7-A6AB-57439E778FC8}" type="datetime3">
              <a:rPr lang="en-US" smtClean="0"/>
              <a:pPr/>
              <a:t>18 January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5C5684-9282-533B-5AB3-CCB61A0A5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742268-525A-A23A-DB23-77102264A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EBE034-2782-F432-D0C7-A061E2A4C4F4}"/>
              </a:ext>
            </a:extLst>
          </p:cNvPr>
          <p:cNvSpPr txBox="1"/>
          <p:nvPr/>
        </p:nvSpPr>
        <p:spPr>
          <a:xfrm>
            <a:off x="685800" y="1600200"/>
            <a:ext cx="7467600" cy="4301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1800" b="1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CONNECTIONS IN RASPBERRY PI PORT:</a:t>
            </a:r>
            <a:r>
              <a: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text navigator device and identification systems are combined into a single chip known as the Raspberry Pi.  </a:t>
            </a:r>
          </a:p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image is sent to the raspberry pi port by the camera module that captured it. </a:t>
            </a:r>
          </a:p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distance calculated using the ultrasonic sensor detection is saved into the Raspberry Pi. </a:t>
            </a:r>
          </a:p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There is also a headphone jack for listening to the output.</a:t>
            </a:r>
            <a:endParaRPr lang="en-IN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08611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F0656-7FA5-383B-BE67-FC93F2EEA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940" y="228600"/>
            <a:ext cx="8229600" cy="990600"/>
          </a:xfrm>
        </p:spPr>
        <p:txBody>
          <a:bodyPr>
            <a:noAutofit/>
          </a:bodyPr>
          <a:lstStyle/>
          <a:p>
            <a:r>
              <a:rPr lang="en-US" sz="3600" dirty="0"/>
              <a:t>Modules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6FFB7-961E-2486-C8F3-0D0AB0DBA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3200" dirty="0">
              <a:ea typeface="Arimo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520C0C-9A92-E2CA-5BCD-2AD959A27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A6F9D-DD77-42A7-A6AB-57439E778FC8}" type="datetime3">
              <a:rPr lang="en-US" smtClean="0"/>
              <a:pPr/>
              <a:t>18 January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5C5684-9282-533B-5AB3-CCB61A0A5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742268-525A-A23A-DB23-77102264A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EBE034-2782-F432-D0C7-A061E2A4C4F4}"/>
              </a:ext>
            </a:extLst>
          </p:cNvPr>
          <p:cNvSpPr txBox="1"/>
          <p:nvPr/>
        </p:nvSpPr>
        <p:spPr>
          <a:xfrm>
            <a:off x="457200" y="1447800"/>
            <a:ext cx="8458200" cy="5854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1800" b="1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IMAGE PROCESSING USING SSD ALGORITHM: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camera's acquired image, which the Raspberry Pi accepts as input, is then taken for additional processing.</a:t>
            </a:r>
          </a:p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SSD algorithm is utilized in this situation because of its capacity for greater accuracy and quicker speed.</a:t>
            </a:r>
          </a:p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COCO dataset  abbreviated as Common Objects in Context is made use of.</a:t>
            </a:r>
          </a:p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output of image processing can either be an image or a set of parameters or characteristics related to the image. </a:t>
            </a:r>
          </a:p>
          <a:p>
            <a:pPr indent="457200" algn="just">
              <a:lnSpc>
                <a:spcPct val="150000"/>
              </a:lnSpc>
              <a:spcAft>
                <a:spcPts val="800"/>
              </a:spcAft>
            </a:pP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53841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F0656-7FA5-383B-BE67-FC93F2EEA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940" y="228600"/>
            <a:ext cx="8229600" cy="990600"/>
          </a:xfrm>
        </p:spPr>
        <p:txBody>
          <a:bodyPr>
            <a:noAutofit/>
          </a:bodyPr>
          <a:lstStyle/>
          <a:p>
            <a:r>
              <a:rPr lang="en-US" sz="3600" dirty="0"/>
              <a:t>Modules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6FFB7-961E-2486-C8F3-0D0AB0DBA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3200" dirty="0">
              <a:ea typeface="Arimo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520C0C-9A92-E2CA-5BCD-2AD959A27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A6F9D-DD77-42A7-A6AB-57439E778FC8}" type="datetime3">
              <a:rPr lang="en-US" smtClean="0"/>
              <a:pPr/>
              <a:t>18 January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5C5684-9282-533B-5AB3-CCB61A0A5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742268-525A-A23A-DB23-77102264A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EBE034-2782-F432-D0C7-A061E2A4C4F4}"/>
              </a:ext>
            </a:extLst>
          </p:cNvPr>
          <p:cNvSpPr txBox="1"/>
          <p:nvPr/>
        </p:nvSpPr>
        <p:spPr>
          <a:xfrm>
            <a:off x="457200" y="1447800"/>
            <a:ext cx="8458200" cy="5957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1800" b="1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DISTANCE CALCULATION: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measurement of how far away the thing is from the blind person is made. </a:t>
            </a: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ultrasonic sensor generates a specific amount of ultrasound in Hertz. It bounces back after getting into contact with an object in a path. </a:t>
            </a:r>
          </a:p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Distance= (Time Elapsed*34300)/2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US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where, Time Elapsed =Stop Time–Start Time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US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34300-Speed of Sound</a:t>
            </a:r>
          </a:p>
          <a:p>
            <a:pPr indent="457200" algn="just">
              <a:lnSpc>
                <a:spcPct val="150000"/>
              </a:lnSpc>
              <a:spcAft>
                <a:spcPts val="800"/>
              </a:spcAft>
            </a:pP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24700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F0656-7FA5-383B-BE67-FC93F2EEA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940" y="228600"/>
            <a:ext cx="8229600" cy="990600"/>
          </a:xfrm>
        </p:spPr>
        <p:txBody>
          <a:bodyPr>
            <a:noAutofit/>
          </a:bodyPr>
          <a:lstStyle/>
          <a:p>
            <a:r>
              <a:rPr lang="en-US" sz="3600" dirty="0"/>
              <a:t>Modules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6FFB7-961E-2486-C8F3-0D0AB0DBA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3200" dirty="0">
              <a:ea typeface="Arimo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520C0C-9A92-E2CA-5BCD-2AD959A27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A6F9D-DD77-42A7-A6AB-57439E778FC8}" type="datetime3">
              <a:rPr lang="en-US" smtClean="0"/>
              <a:pPr/>
              <a:t>18 January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5C5684-9282-533B-5AB3-CCB61A0A5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742268-525A-A23A-DB23-77102264A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EBE034-2782-F432-D0C7-A061E2A4C4F4}"/>
              </a:ext>
            </a:extLst>
          </p:cNvPr>
          <p:cNvSpPr txBox="1"/>
          <p:nvPr/>
        </p:nvSpPr>
        <p:spPr>
          <a:xfrm>
            <a:off x="342900" y="1357841"/>
            <a:ext cx="8458200" cy="548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200" b="1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PRESENTING THE OUTPUT AS VOICE NOTE:</a:t>
            </a:r>
            <a:r>
              <a:rPr lang="en-US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IN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order to provide the results in an auditory output that is suitable for individuals who are visually handicapped, the text reader system is being utilized. </a:t>
            </a:r>
          </a:p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Python's pyttsx3 library serves to convert text to speech. </a:t>
            </a:r>
          </a:p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speaker or the headphone has to be connected to the raspberry pi.</a:t>
            </a:r>
          </a:p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When an object comes in contact within 90 inches from the user a buzzer sound is presented indicating it along with the distance</a:t>
            </a:r>
            <a:r>
              <a:rPr lang="en-US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97970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1CA03-83C5-59CF-C9DB-A21215D44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658" y="469490"/>
            <a:ext cx="8229600" cy="1143000"/>
          </a:xfrm>
        </p:spPr>
        <p:txBody>
          <a:bodyPr>
            <a:noAutofit/>
          </a:bodyPr>
          <a:lstStyle/>
          <a:p>
            <a:r>
              <a:rPr lang="en-US" dirty="0"/>
              <a:t>Results and Discussions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66F2A-9071-9832-C77E-999120F478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After successful execution of the models we would be able to find the name of the object classified and also along with at what distance it is.</a:t>
            </a:r>
          </a:p>
          <a:p>
            <a:pPr algn="just"/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snapshots of the moving video appear as image one after another on the screen.</a:t>
            </a: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output appears as a text for our reference.</a:t>
            </a: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output is also played in an audio format for the visually impaired people which is the major purpose of our project.</a:t>
            </a: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DE858C-D084-483A-2A29-18EBD39A2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A6F9D-DD77-42A7-A6AB-57439E778FC8}" type="datetime3">
              <a:rPr lang="en-US" smtClean="0"/>
              <a:pPr/>
              <a:t>18 January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738166-84BF-68D9-8415-B976F4DC0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06992B-A883-D253-606E-B85692081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7609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8ED5F-9A0A-3A46-49DA-4590270DA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Snapshots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12EAD5-E699-29C7-FF5B-CF6FDE86A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A6F9D-DD77-42A7-A6AB-57439E778FC8}" type="datetime3">
              <a:rPr lang="en-US" smtClean="0"/>
              <a:pPr/>
              <a:t>18 January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7E858B-2A02-BC75-2C4D-C28CD514C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D77234-BB52-34BA-DD6B-66A512C6A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511EA2E-DAD3-5ABF-7AF1-63D6675C6D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899" y="2057400"/>
            <a:ext cx="6934201" cy="414622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356C60D-EC49-B107-FA8A-09A1DD0D910A}"/>
              </a:ext>
            </a:extLst>
          </p:cNvPr>
          <p:cNvSpPr txBox="1"/>
          <p:nvPr/>
        </p:nvSpPr>
        <p:spPr>
          <a:xfrm>
            <a:off x="1371600" y="1524327"/>
            <a:ext cx="56235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i="1" u="none" strike="noStrike" dirty="0">
                <a:ln>
                  <a:noFill/>
                </a:ln>
                <a:effectLst>
                  <a:outerShdw sx="0" sy="0">
                    <a:srgbClr val="000000"/>
                  </a:outerShdw>
                </a:effectLst>
                <a:latin typeface="Times New Roman" panose="02020603050405020304" pitchFamily="18" charset="0"/>
              </a:rPr>
              <a:t>Experimental Setup</a:t>
            </a:r>
            <a:endParaRPr lang="en-IN" sz="1800" b="1" i="1" u="none" strike="noStrike" dirty="0">
              <a:ln>
                <a:noFill/>
              </a:ln>
              <a:effectLst>
                <a:outerShdw sx="0" sy="0">
                  <a:srgbClr val="000000"/>
                </a:outerShdw>
              </a:effectLst>
              <a:latin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98086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8ED5F-9A0A-3A46-49DA-4590270DA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Snapshots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12EAD5-E699-29C7-FF5B-CF6FDE86A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A6F9D-DD77-42A7-A6AB-57439E778FC8}" type="datetime3">
              <a:rPr lang="en-US" smtClean="0"/>
              <a:pPr/>
              <a:t>18 January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7E858B-2A02-BC75-2C4D-C28CD514C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D77234-BB52-34BA-DD6B-66A512C6A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AE482AB2-8AAD-27F6-28BC-3F049D5632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716" y="1969371"/>
            <a:ext cx="6624568" cy="4156792"/>
          </a:xfrm>
        </p:spPr>
      </p:pic>
    </p:spTree>
    <p:extLst>
      <p:ext uri="{BB962C8B-B14F-4D97-AF65-F5344CB8AC3E}">
        <p14:creationId xmlns:p14="http://schemas.microsoft.com/office/powerpoint/2010/main" val="3204117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8ED5F-9A0A-3A46-49DA-4590270DA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Snapshots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12EAD5-E699-29C7-FF5B-CF6FDE86A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A6F9D-DD77-42A7-A6AB-57439E778FC8}" type="datetime3">
              <a:rPr lang="en-US" smtClean="0"/>
              <a:pPr/>
              <a:t>18 January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7E858B-2A02-BC75-2C4D-C28CD514C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D77234-BB52-34BA-DD6B-66A512C6A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B80CD9ED-DF6B-FFCA-1AE3-390944BA2D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1" y="1570171"/>
            <a:ext cx="6858000" cy="4525963"/>
          </a:xfrm>
        </p:spPr>
      </p:pic>
    </p:spTree>
    <p:extLst>
      <p:ext uri="{BB962C8B-B14F-4D97-AF65-F5344CB8AC3E}">
        <p14:creationId xmlns:p14="http://schemas.microsoft.com/office/powerpoint/2010/main" val="38084485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8ED5F-9A0A-3A46-49DA-4590270DA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Snapshots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12EAD5-E699-29C7-FF5B-CF6FDE86A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A6F9D-DD77-42A7-A6AB-57439E778FC8}" type="datetime3">
              <a:rPr lang="en-US" smtClean="0"/>
              <a:pPr/>
              <a:t>18 January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7E858B-2A02-BC75-2C4D-C28CD514C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D77234-BB52-34BA-DD6B-66A512C6A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45EA09DC-39EB-AAD7-77F0-8CE5F175B6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434" y="1752600"/>
            <a:ext cx="7391400" cy="4456899"/>
          </a:xfrm>
        </p:spPr>
      </p:pic>
    </p:spTree>
    <p:extLst>
      <p:ext uri="{BB962C8B-B14F-4D97-AF65-F5344CB8AC3E}">
        <p14:creationId xmlns:p14="http://schemas.microsoft.com/office/powerpoint/2010/main" val="37019344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8ED5F-9A0A-3A46-49DA-4590270DA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Snapshots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12EAD5-E699-29C7-FF5B-CF6FDE86A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A6F9D-DD77-42A7-A6AB-57439E778FC8}" type="datetime3">
              <a:rPr lang="en-US" smtClean="0"/>
              <a:pPr/>
              <a:t>18 January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7E858B-2A02-BC75-2C4D-C28CD514C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D77234-BB52-34BA-DD6B-66A512C6A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56C60D-EC49-B107-FA8A-09A1DD0D910A}"/>
              </a:ext>
            </a:extLst>
          </p:cNvPr>
          <p:cNvSpPr txBox="1"/>
          <p:nvPr/>
        </p:nvSpPr>
        <p:spPr>
          <a:xfrm>
            <a:off x="1371600" y="1323040"/>
            <a:ext cx="56235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Output of Image Recognition</a:t>
            </a:r>
            <a:endParaRPr lang="en-IN" sz="1800" b="1" i="1" u="none" strike="noStrike" dirty="0">
              <a:ln>
                <a:noFill/>
              </a:ln>
              <a:effectLst>
                <a:outerShdw sx="0" sy="0">
                  <a:srgbClr val="000000"/>
                </a:outerShdw>
              </a:effectLst>
              <a:latin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6D6F7121-BF4E-8587-D89E-D5503BBCA1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39" b="30451"/>
          <a:stretch/>
        </p:blipFill>
        <p:spPr bwMode="auto">
          <a:xfrm>
            <a:off x="628965" y="1752600"/>
            <a:ext cx="7676835" cy="44196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7868098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8ED5F-9A0A-3A46-49DA-4590270DA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Snapshots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12EAD5-E699-29C7-FF5B-CF6FDE86A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A6F9D-DD77-42A7-A6AB-57439E778FC8}" type="datetime3">
              <a:rPr lang="en-US" smtClean="0"/>
              <a:pPr/>
              <a:t>18 January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7E858B-2A02-BC75-2C4D-C28CD514C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D77234-BB52-34BA-DD6B-66A512C6A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56C60D-EC49-B107-FA8A-09A1DD0D910A}"/>
              </a:ext>
            </a:extLst>
          </p:cNvPr>
          <p:cNvSpPr txBox="1"/>
          <p:nvPr/>
        </p:nvSpPr>
        <p:spPr>
          <a:xfrm>
            <a:off x="1371600" y="1178874"/>
            <a:ext cx="56235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Output of Image Recognition</a:t>
            </a:r>
            <a:endParaRPr lang="en-IN" sz="1800" b="1" i="1" u="none" strike="noStrike" dirty="0">
              <a:ln>
                <a:noFill/>
              </a:ln>
              <a:effectLst>
                <a:outerShdw sx="0" sy="0">
                  <a:srgbClr val="000000"/>
                </a:outerShdw>
              </a:effectLst>
              <a:latin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AA8486DA-E4EA-49ED-ABE3-3476EDA88B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525" y="1570037"/>
            <a:ext cx="7276949" cy="4525963"/>
          </a:xfrm>
        </p:spPr>
      </p:pic>
    </p:spTree>
    <p:extLst>
      <p:ext uri="{BB962C8B-B14F-4D97-AF65-F5344CB8AC3E}">
        <p14:creationId xmlns:p14="http://schemas.microsoft.com/office/powerpoint/2010/main" val="194751664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1181</TotalTime>
  <Words>924</Words>
  <Application>Microsoft Office PowerPoint</Application>
  <PresentationFormat>On-screen Show (4:3)</PresentationFormat>
  <Paragraphs>157</Paragraphs>
  <Slides>19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Arimo</vt:lpstr>
      <vt:lpstr>Calibri</vt:lpstr>
      <vt:lpstr>Times New Roman</vt:lpstr>
      <vt:lpstr>Wingdings</vt:lpstr>
      <vt:lpstr>Custom Design</vt:lpstr>
      <vt:lpstr> PORTABLE CAMERA BASED IDENTIFICATION SYSTEM FOR VISUALLY IMPAIRED PEOPLE </vt:lpstr>
      <vt:lpstr>Introduction</vt:lpstr>
      <vt:lpstr>                  Objectives</vt:lpstr>
      <vt:lpstr>System Architecture</vt:lpstr>
      <vt:lpstr>           Experimental Setup</vt:lpstr>
      <vt:lpstr>Experimental Setup </vt:lpstr>
      <vt:lpstr>Modules</vt:lpstr>
      <vt:lpstr>Modules</vt:lpstr>
      <vt:lpstr>Modules</vt:lpstr>
      <vt:lpstr>Modules</vt:lpstr>
      <vt:lpstr>Modules</vt:lpstr>
      <vt:lpstr>Modules</vt:lpstr>
      <vt:lpstr>Results and Discussions </vt:lpstr>
      <vt:lpstr>Snapshots</vt:lpstr>
      <vt:lpstr>Snapshots</vt:lpstr>
      <vt:lpstr>Snapshots</vt:lpstr>
      <vt:lpstr>Snapshots</vt:lpstr>
      <vt:lpstr>Snapshots</vt:lpstr>
      <vt:lpstr>Snapshots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Windows User</dc:creator>
  <cp:lastModifiedBy>Bala Deepika J</cp:lastModifiedBy>
  <cp:revision>80</cp:revision>
  <dcterms:created xsi:type="dcterms:W3CDTF">2019-11-06T07:48:53Z</dcterms:created>
  <dcterms:modified xsi:type="dcterms:W3CDTF">2026-01-18T10:30:47Z</dcterms:modified>
</cp:coreProperties>
</file>